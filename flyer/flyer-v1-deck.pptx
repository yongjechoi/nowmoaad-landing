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457200"/>
          </a:xfrm>
          <a:prstGeom prst="rect">
            <a:avLst/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 b="1">
                <a:solidFill>
                  <a:srgbClr val="0F0F10"/>
                </a:solidFill>
                <a:latin typeface="Malgun Gothic"/>
              </a:rPr>
              <a:t>🔥 [부동산 한정 파격 혜택] 전단지 보고 연락 주신 소장님께만 '첫 1편 비용 0원 무료 제작'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217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F0F10"/>
                </a:solidFill>
                <a:latin typeface="Malgun Gothic"/>
              </a:rPr>
              <a:t>SHORT-FORM FOR REALTORS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65836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</a:rPr>
              <a:t>"네이버 부동산 광고비는 오르는데,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</a:rPr>
              <a:t>왜 사무실 전화는 조용할까요?"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658368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7B7BE"/>
                </a:solidFill>
                <a:latin typeface="Malgun Gothic"/>
              </a:rPr>
              <a:t>손님들은 이미 네이버 검색 대신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유튜브 쇼츠, 인스타 릴스</a:t>
            </a:r>
            <a:r>
              <a:rPr sz="1150" b="0">
                <a:solidFill>
                  <a:srgbClr val="B7B7BE"/>
                </a:solidFill>
                <a:latin typeface="Malgun Gothic"/>
              </a:rPr>
              <a:t>로 매물을 봅니다.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7B7BE"/>
                </a:solidFill>
                <a:latin typeface="Malgun Gothic"/>
              </a:rPr>
              <a:t>15년 차 방송 PD가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우리 지역 매물 문의를 독점하는 1분 숏폼</a:t>
            </a:r>
            <a:r>
              <a:rPr sz="1150" b="0">
                <a:solidFill>
                  <a:srgbClr val="B7B7BE"/>
                </a:solidFill>
                <a:latin typeface="Malgun Gothic"/>
              </a:rPr>
              <a:t>으로 바꿔드립니다.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6583680" cy="196596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9050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CFF00"/>
                </a:solidFill>
                <a:latin typeface="Malgun Gothic"/>
              </a:rPr>
              <a:t>🎁 100% 무료 검증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60350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"일단 1편 공짜로 올려보고 결정하세요!"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50791"/>
            <a:ext cx="603504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7B7BE"/>
                </a:solidFill>
                <a:latin typeface="Malgun Gothic"/>
              </a:rPr>
              <a:t>소장님 매물 영상 1편을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비용 0원</a:t>
            </a:r>
            <a:r>
              <a:rPr sz="1150" b="0">
                <a:solidFill>
                  <a:srgbClr val="B7B7BE"/>
                </a:solidFill>
                <a:latin typeface="Malgun Gothic"/>
              </a:rPr>
              <a:t>에 무료로 편집·배포해 드립니다.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7B7BE"/>
                </a:solidFill>
                <a:latin typeface="Malgun Gothic"/>
              </a:rPr>
              <a:t>퀄리티와 실제 문의 효과를 직접 눈으로 확인하시고, 마음에 드실 때만 계약하세요.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36008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C7C84"/>
                </a:solidFill>
                <a:latin typeface="Malgun Gothic"/>
              </a:rPr>
              <a:t>※ 퀄리티 유지를 위해 지역별 매월 선착순 5개 부동산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4B"/>
                </a:solidFill>
                <a:latin typeface="Malgun Gothic"/>
              </a:rPr>
              <a:t>★ </a:t>
            </a:r>
            <a:r>
              <a:rPr sz="1250" b="1">
                <a:solidFill>
                  <a:srgbClr val="FFFFFF"/>
                </a:solidFill>
                <a:latin typeface="Malgun Gothic"/>
              </a:rPr>
              <a:t>[전단지 독점 혜택] 똥손 소장님도 단숨에 금손으로! 1:1 촬영 컨설팅 무료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150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CFF00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687568"/>
            <a:ext cx="603504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비싼 출장 촬영, 부르지 마세요!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1100" b="0">
                <a:solidFill>
                  <a:srgbClr val="B7B7BE"/>
                </a:solidFill>
                <a:latin typeface="Malgun Gothic"/>
              </a:rPr>
              <a:t>따라만 하면 되는 '맞춤형 숏폼 촬영 가이드 &amp; 레퍼런스' 무상 제공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4282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CFF00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0"/>
            <a:ext cx="603504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스마트폰으로 대충 찍어만 주시면,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1100" b="0">
                <a:solidFill>
                  <a:srgbClr val="B7B7BE"/>
                </a:solidFill>
                <a:latin typeface="Malgun Gothic"/>
              </a:rPr>
              <a:t>고퀄리티 컷편집 + 자막/BGM + 4대 채널(쇼츠·릴스·틱톡·클립) 배포 올인원 대행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71414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CFF00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7114032"/>
            <a:ext cx="603504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가장 부담 없는 가격으로,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1100" b="0">
                <a:solidFill>
                  <a:srgbClr val="B7B7BE"/>
                </a:solidFill>
                <a:latin typeface="Malgun Gothic"/>
              </a:rPr>
              <a:t>당장 우리 부동산 매물 문의부터 확실하게 늘려보세요!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8732520"/>
            <a:ext cx="6583680" cy="1508760"/>
          </a:xfrm>
          <a:prstGeom prst="roundRect">
            <a:avLst>
              <a:gd name="adj" fmla="val 7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8933688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C7C84"/>
                </a:solidFill>
                <a:latin typeface="Malgun Gothic"/>
              </a:rPr>
              <a:t>문자 · 전화 직통 신청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9208008"/>
            <a:ext cx="65836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CCFF00"/>
                </a:solidFill>
                <a:latin typeface="Malgun Gothic"/>
              </a:rPr>
              <a:t>010-5155-5502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756648"/>
            <a:ext cx="65836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"전단지 보고 연락드렸습니다"</a:t>
            </a:r>
            <a:r>
              <a:rPr sz="1050" b="0">
                <a:solidFill>
                  <a:srgbClr val="B7B7BE"/>
                </a:solidFill>
                <a:latin typeface="Malgun Gothic"/>
              </a:rPr>
              <a:t>라고 문자 남겨주시면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7B7BE"/>
                </a:solidFill>
                <a:latin typeface="Malgun Gothic"/>
              </a:rPr>
              <a:t>즉시 1편 무료 제작 접수 진행됩니다.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F0F10"/>
                </a:solidFill>
                <a:latin typeface="Malgun Gothic"/>
              </a:rPr>
              <a:t>3 CUSTOM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658368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algun Gothic"/>
              </a:rPr>
              <a:t>"소장님의 주력 매물에 딱 맞춘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algun Gothic"/>
              </a:rPr>
              <a:t>3가지 맞춤형 숏폼 플랜"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50592"/>
            <a:ext cx="1828799" cy="4206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7C7C84"/>
                </a:solidFill>
                <a:latin typeface="Malgun Gothic"/>
              </a:rPr>
              <a:t>PLAN 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원격 편집 &amp; 배포형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35808"/>
            <a:ext cx="1828799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추천 매물: 아파트, 상가,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오피스텔 등 일반 중개 매물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84448"/>
            <a:ext cx="1828799" cy="9144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94176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CFF00"/>
                </a:solidFill>
                <a:latin typeface="Malgun Gothic"/>
              </a:rPr>
              <a:t>월 180만원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1828799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C7C84"/>
                </a:solidFill>
                <a:latin typeface="Malgun Gothic"/>
              </a:rPr>
              <a:t>1건당 18만원 꼴 · 월 10건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스마트폰으로 찍어만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보내주세요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1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3초 후킹 트렌디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컷편집 + 자막/BGM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0096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4대 매체 동시 배포 대행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(쇼츠·릴스·틱톡·클립)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92024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103120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50592"/>
            <a:ext cx="1828799" cy="4206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7C7C84"/>
                </a:solidFill>
                <a:latin typeface="Malgun Gothic"/>
              </a:rPr>
              <a:t>PLAN 02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대량 융단폭격형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35808"/>
            <a:ext cx="1828799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추천 매물: 원룸, 투룸,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지식산업센터 등 회전 매물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584448"/>
            <a:ext cx="1828799" cy="9144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694176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CFF00"/>
                </a:solidFill>
                <a:latin typeface="Malgun Gothic"/>
              </a:rPr>
              <a:t>월 300만원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05072"/>
            <a:ext cx="1828799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C7C84"/>
                </a:solidFill>
                <a:latin typeface="Malgun Gothic"/>
              </a:rPr>
              <a:t>월 20건 · 주 5회 업로드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315968"/>
            <a:ext cx="1828799" cy="502920"/>
          </a:xfrm>
          <a:prstGeom prst="roundRect">
            <a:avLst>
              <a:gd name="adj" fmla="val 15000"/>
            </a:avLst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4370831"/>
            <a:ext cx="1664207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"매일 업로드로 우리 지역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매물 알고리즘 완전 장악!"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928616"/>
            <a:ext cx="182879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월 20건 숏폼 집중 편집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230368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매일 채널 관리 +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4대 채널 대량 노출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742431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즉각적인 매물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문의량 극대화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192024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103120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450592"/>
            <a:ext cx="1828799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7C7C84"/>
                </a:solidFill>
                <a:latin typeface="Malgun Gothic"/>
              </a:rPr>
              <a:t>PLAN 03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프리미엄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퍼스널 브랜딩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255264"/>
            <a:ext cx="182879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추천 매물: 강남 고급빌라,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빌딩매매, 토지/시행 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고가 매물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3995928"/>
            <a:ext cx="1828799" cy="9144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105656"/>
            <a:ext cx="182879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B84B"/>
                </a:solidFill>
                <a:latin typeface="Malgun Gothic"/>
              </a:rPr>
              <a:t>월 350만원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416552"/>
            <a:ext cx="1828799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C7C84"/>
                </a:solidFill>
                <a:latin typeface="Malgun Gothic"/>
              </a:rPr>
              <a:t>월 4건 · 하이엔드 풀패키지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727448"/>
            <a:ext cx="1828799" cy="502920"/>
          </a:xfrm>
          <a:prstGeom prst="roundRect">
            <a:avLst>
              <a:gd name="adj" fmla="val 15000"/>
            </a:avLst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4782312"/>
            <a:ext cx="1664207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"지역 1등 공인중개사를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위한 독보적 전문가 브랜딩!"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340096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B84B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현장 올인원 출장 촬영 +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15년 차 PD 디렉팅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852160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B84B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소장님 출연 전담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대본 기획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6364224"/>
            <a:ext cx="1828799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B84B"/>
                </a:solidFill>
                <a:latin typeface="Malgun Gothic"/>
              </a:rPr>
              <a:t>· </a:t>
            </a:r>
            <a:r>
              <a:rPr sz="900" b="0">
                <a:solidFill>
                  <a:srgbClr val="B7B7BE"/>
                </a:solidFill>
                <a:latin typeface="Malgun Gothic"/>
              </a:rPr>
              <a:t>타깃 맞춤형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7BE"/>
                </a:solidFill>
                <a:latin typeface="Malgun Gothic"/>
              </a:rPr>
              <a:t>   유료 광고 세팅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7040880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Malgun Gothic"/>
              </a:rPr>
              <a:t>나우모아애드(NowMoaAd)를 선택해야 하는 이유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7452360"/>
            <a:ext cx="6583680" cy="502920"/>
          </a:xfrm>
          <a:prstGeom prst="roundRect">
            <a:avLst>
              <a:gd name="adj" fmla="val 1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7571232"/>
            <a:ext cx="320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algun Gothic"/>
              </a:rPr>
              <a:t>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7543800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15년 경력 메이저 방송 PD 출신</a:t>
            </a:r>
            <a:r>
              <a:rPr sz="1050" b="0">
                <a:solidFill>
                  <a:srgbClr val="B7B7BE"/>
                </a:solidFill>
                <a:latin typeface="Malgun Gothic"/>
              </a:rPr>
              <a:t>(도레미·팬엔터테인먼트)의 압도적 시선 장악력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8055864"/>
            <a:ext cx="6583680" cy="502920"/>
          </a:xfrm>
          <a:prstGeom prst="roundRect">
            <a:avLst>
              <a:gd name="adj" fmla="val 1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8174736"/>
            <a:ext cx="320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algun Gothic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8147304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광고대행사 &amp; 유통 15년 대표 출신</a:t>
            </a:r>
            <a:r>
              <a:rPr sz="1050" b="0">
                <a:solidFill>
                  <a:srgbClr val="B7B7BE"/>
                </a:solidFill>
                <a:latin typeface="Malgun Gothic"/>
              </a:rPr>
              <a:t>으로 고객이 지갑을 여는 심리 정확히 타격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8659368"/>
            <a:ext cx="6583680" cy="502920"/>
          </a:xfrm>
          <a:prstGeom prst="roundRect">
            <a:avLst>
              <a:gd name="adj" fmla="val 1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8778240"/>
            <a:ext cx="320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algun Gothic"/>
              </a:rPr>
              <a:t>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8750808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소장님 시간 낭비 Zero</a:t>
            </a:r>
            <a:r>
              <a:rPr sz="1050" b="0">
                <a:solidFill>
                  <a:srgbClr val="B7B7BE"/>
                </a:solidFill>
                <a:latin typeface="Malgun Gothic"/>
              </a:rPr>
              <a:t>— 복잡한 편집/업로드는 전부 전담, 소장님은 계약만 쓰세요!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9464040"/>
            <a:ext cx="6583680" cy="960120"/>
          </a:xfrm>
          <a:prstGeom prst="roundRect">
            <a:avLst>
              <a:gd name="adj" fmla="val 10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9646919"/>
            <a:ext cx="4206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나우모아애드 (NowMoaAd)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9966960"/>
            <a:ext cx="4206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"첫 1편 무료 제작 심사는 문자 또는 전화로 신청 가능합니다."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9646919"/>
            <a:ext cx="1874519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C7C84"/>
                </a:solidFill>
                <a:latin typeface="Malgun Gothic"/>
              </a:rPr>
              <a:t>직통 문의 · 접수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9902952"/>
            <a:ext cx="1874519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CFF00"/>
                </a:solidFill>
                <a:latin typeface="Malgun Gothic"/>
              </a:rPr>
              <a:t>010-5155-5502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420624"/>
          </a:xfrm>
          <a:prstGeom prst="rect">
            <a:avLst/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0F0F10"/>
                </a:solidFill>
                <a:latin typeface="Malgun Gothic"/>
              </a:rPr>
              <a:t>🔥 [부동산 한정 파격 혜택] 전단지 보고 연락 주신 소장님께만 '첫 1편 비용 0원 무료 제작'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658368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"네이버 부동산 광고비는 오르는데,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왜 사무실 전화는 조용할까요?"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6583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7B7BE"/>
                </a:solidFill>
                <a:latin typeface="Malgun Gothic"/>
              </a:rPr>
              <a:t>손님들은 이미 네이버 검색 대신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유튜브 쇼츠, 인스타 릴스</a:t>
            </a:r>
            <a:r>
              <a:rPr sz="950" b="0">
                <a:solidFill>
                  <a:srgbClr val="B7B7BE"/>
                </a:solidFill>
                <a:latin typeface="Malgun Gothic"/>
              </a:rPr>
              <a:t>로 매물을 봅니다.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7B7BE"/>
                </a:solidFill>
                <a:latin typeface="Malgun Gothic"/>
              </a:rPr>
              <a:t>소장님 매물 영상 1편을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비용 0원에 무료로 편집·배포</a:t>
            </a:r>
            <a:r>
              <a:rPr sz="950" b="0">
                <a:solidFill>
                  <a:srgbClr val="B7B7BE"/>
                </a:solidFill>
                <a:latin typeface="Malgun Gothic"/>
              </a:rPr>
              <a:t>해 드릴 테니,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7B7BE"/>
                </a:solidFill>
                <a:latin typeface="Malgun Gothic"/>
              </a:rPr>
              <a:t>영상 퀄리티와 문의 효과를 직접 눈으로 확인하시고 마음에 들 때만 계약하세요!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C7C84"/>
                </a:solidFill>
                <a:latin typeface="Malgun Gothic"/>
              </a:rPr>
              <a:t>※ 지역별 매월 선착순 5개 부동산 한정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7889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>
                <a:solidFill>
                  <a:srgbClr val="0F0F10"/>
                </a:solidFill>
                <a:latin typeface="Malgun Gothic"/>
              </a:rPr>
              <a:t>전단지 독점 혜택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79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소장님 매물에 딱 맞춘 3가지 맞춤형 숏폼 플랜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2103120" cy="278892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794760"/>
            <a:ext cx="1865376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🥉 </a:t>
            </a:r>
            <a:r>
              <a:rPr sz="1000" b="1">
                <a:solidFill>
                  <a:srgbClr val="FFFFFF"/>
                </a:solidFill>
                <a:latin typeface="Malgun Gothic"/>
              </a:rPr>
              <a:t>01. 원격 편집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&amp; 배포형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361688"/>
            <a:ext cx="186537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추천: 아파트, 상가,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오피스텔 등 일반 중개 매물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800600"/>
            <a:ext cx="186537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CFF00"/>
                </a:solidFill>
                <a:latin typeface="Malgun Gothic"/>
              </a:rPr>
              <a:t>월 180만원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47488"/>
            <a:ext cx="186537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C7C84"/>
                </a:solidFill>
                <a:latin typeface="Malgun Gothic"/>
              </a:rPr>
              <a:t>1건당 18만원 · 월 10건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303520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스마트폰으로 찍어만
보내주시면 끝!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577840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3초 후킹 컷편집
+ 자막/BGM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852160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4대 매체 배포 대행
(쇼츠·릴스·틱톡·클립)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657600"/>
            <a:ext cx="2103120" cy="278892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3794760"/>
            <a:ext cx="1865376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🥈 </a:t>
            </a:r>
            <a:r>
              <a:rPr sz="1000" b="1">
                <a:solidFill>
                  <a:srgbClr val="FFFFFF"/>
                </a:solidFill>
                <a:latin typeface="Malgun Gothic"/>
              </a:rPr>
              <a:t>02. 대량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융단폭격형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4361688"/>
            <a:ext cx="186537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추천: 원룸, 투룸,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지식산업센터 등 회전 빠른 매물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4800600"/>
            <a:ext cx="186537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CFF00"/>
                </a:solidFill>
                <a:latin typeface="Malgun Gothic"/>
              </a:rPr>
              <a:t>월 300만원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5047488"/>
            <a:ext cx="186537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C7C84"/>
                </a:solidFill>
                <a:latin typeface="Malgun Gothic"/>
              </a:rPr>
              <a:t>월 20건 · 주 5회 업로드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2072" y="5303520"/>
            <a:ext cx="1865376" cy="384048"/>
          </a:xfrm>
          <a:prstGeom prst="roundRect">
            <a:avLst>
              <a:gd name="adj" fmla="val 15000"/>
            </a:avLst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340096"/>
            <a:ext cx="173736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algun Gothic"/>
              </a:rPr>
              <a:t>"매일 업로드로 우리 지역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algun Gothic"/>
              </a:rPr>
              <a:t>매물 알고리즘 장악!"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5760720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월 20건 집중 편집 및
매일 채널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6035040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FF00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즉각적인
문의량 극대화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657600"/>
            <a:ext cx="2103120" cy="2788920"/>
          </a:xfrm>
          <a:prstGeom prst="roundRect">
            <a:avLst>
              <a:gd name="adj" fmla="val 5000"/>
            </a:avLst>
          </a:prstGeom>
          <a:solidFill>
            <a:srgbClr val="17171B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3794760"/>
            <a:ext cx="1865376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🥇 </a:t>
            </a:r>
            <a:r>
              <a:rPr sz="1000" b="1">
                <a:solidFill>
                  <a:srgbClr val="FFFFFF"/>
                </a:solidFill>
                <a:latin typeface="Malgun Gothic"/>
              </a:rPr>
              <a:t>03. 프리미엄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퍼스널 브랜딩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361688"/>
            <a:ext cx="186537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추천: 강남 고급빌라,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빌딩매매, 토지/시행 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C7C84"/>
                </a:solidFill>
                <a:latin typeface="Malgun Gothic"/>
              </a:rPr>
              <a:t>고가 매물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4956048"/>
            <a:ext cx="186537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B84B"/>
                </a:solidFill>
                <a:latin typeface="Malgun Gothic"/>
              </a:rPr>
              <a:t>월 350만원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5202936"/>
            <a:ext cx="186537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C7C84"/>
                </a:solidFill>
                <a:latin typeface="Malgun Gothic"/>
              </a:rPr>
              <a:t>월 4건 · 하이엔드 풀패키지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2352" y="5458968"/>
            <a:ext cx="1865376" cy="384048"/>
          </a:xfrm>
          <a:prstGeom prst="roundRect">
            <a:avLst>
              <a:gd name="adj" fmla="val 15000"/>
            </a:avLst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495544"/>
            <a:ext cx="173736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algun Gothic"/>
              </a:rPr>
              <a:t>"지역 1등 공인중개사를 위한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algun Gothic"/>
              </a:rPr>
              <a:t>독보적 권위 브랜딩!"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5916168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B84B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현장 올인원 출장 촬영 +
15년 차 PD 디렉팅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6300216"/>
            <a:ext cx="18653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B84B"/>
                </a:solidFill>
                <a:latin typeface="Malgun Gothic"/>
              </a:rPr>
              <a:t>· </a:t>
            </a:r>
            <a:r>
              <a:rPr sz="780" b="0">
                <a:solidFill>
                  <a:srgbClr val="B7B7BE"/>
                </a:solidFill>
                <a:latin typeface="Malgun Gothic"/>
              </a:rPr>
              <a:t>전담 대본 기획 +
타깃 맞춤형 광고 세팅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720840"/>
            <a:ext cx="6583680" cy="548640"/>
          </a:xfrm>
          <a:prstGeom prst="roundRect">
            <a:avLst>
              <a:gd name="adj" fmla="val 20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812279"/>
            <a:ext cx="274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4B"/>
                </a:solidFill>
                <a:latin typeface="Malgun Gothic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793992"/>
            <a:ext cx="58521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[특별 혜택] </a:t>
            </a:r>
            <a:r>
              <a:rPr sz="950" b="1">
                <a:solidFill>
                  <a:srgbClr val="B7B7BE"/>
                </a:solidFill>
                <a:latin typeface="Malgun Gothic"/>
              </a:rPr>
              <a:t>똥손 소장님도 단숨에 금손으로! 15년 차 전문가의 1:1 맞춤 촬영 가이드 무료 제공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754380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9050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7744968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7C84"/>
                </a:solidFill>
                <a:latin typeface="Malgun Gothic"/>
              </a:rPr>
              <a:t>첫 1편 무료 제작 신청 · 전화 상담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8046720"/>
            <a:ext cx="65836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CCFF00"/>
                </a:solidFill>
                <a:latin typeface="Malgun Gothic"/>
              </a:rPr>
              <a:t>📞 010-5155-5502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8641080"/>
            <a:ext cx="65836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7B7BE"/>
                </a:solidFill>
                <a:latin typeface="Malgun Gothic"/>
              </a:rPr>
              <a:t>문자 또는 전화로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"전단지 보고 연락드렸습니다"</a:t>
            </a:r>
            <a:r>
              <a:rPr sz="950" b="0">
                <a:solidFill>
                  <a:srgbClr val="B7B7BE"/>
                </a:solidFill>
                <a:latin typeface="Malgun Gothic"/>
              </a:rPr>
              <a:t>라고 남겨주시면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7B7BE"/>
                </a:solidFill>
                <a:latin typeface="Malgun Gothic"/>
              </a:rPr>
              <a:t>즉시 1편 무료 접수 진행됩니다.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9098280"/>
            <a:ext cx="6583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NowMoaAd (나우모아애드)</a:t>
            </a:r>
            <a:r>
              <a:rPr sz="900" b="0">
                <a:solidFill>
                  <a:srgbClr val="7C7C84"/>
                </a:solidFill>
                <a:latin typeface="Malgun Gothic"/>
              </a:rPr>
              <a:t> · 숏폼 마케팅 &amp; 퍼스널 브랜딩 전문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yer_bg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384048"/>
          </a:xfrm>
          <a:prstGeom prst="rect">
            <a:avLst/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0F0F10"/>
                </a:solidFill>
                <a:latin typeface="Malgun Gothic"/>
              </a:rPr>
              <a:t>🔥 [부동산 한정 특가] 전단지 보고 연락 주신 소장님께만 '첫 1편 비용 0원 무료 제작'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658368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algun Gothic"/>
              </a:rPr>
              <a:t>"네이버 부동산 광고비는 오르는데,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algun Gothic"/>
              </a:rPr>
              <a:t>왜 사무실 전화는 조용할까요?"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5836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4E4E8"/>
                </a:solidFill>
                <a:latin typeface="Malgun Gothic"/>
              </a:rPr>
              <a:t>손님들은 이미 네이버 검색 대신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유튜브 쇼츠, 인스타 릴스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로 매물을 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4E4E8"/>
                </a:solidFill>
                <a:latin typeface="Malgun Gothic"/>
              </a:rPr>
              <a:t>15년 차 방송 PD가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우리 지역 매물 문의를 독점하는 1분 숏폼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으로 바꿔드립니다.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6583680" cy="96012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19050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75688"/>
            <a:ext cx="6217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CFF00"/>
                </a:solidFill>
                <a:latin typeface="Malgun Gothic"/>
              </a:rPr>
              <a:t>🎁 100% 무료 검증 제안: "일단 1편 공짜로 올려보고 결정하세요!"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50008"/>
            <a:ext cx="62179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4E4E8"/>
                </a:solidFill>
                <a:latin typeface="Malgun Gothic"/>
              </a:rPr>
              <a:t>소장님 매물 영상 1편을 </a:t>
            </a:r>
            <a:r>
              <a:rPr sz="900" b="1">
                <a:solidFill>
                  <a:srgbClr val="FFFFFF"/>
                </a:solidFill>
                <a:latin typeface="Malgun Gothic"/>
              </a:rPr>
              <a:t>비용 0원에 무료로 편집·배포</a:t>
            </a:r>
            <a:r>
              <a:rPr sz="900" b="0">
                <a:solidFill>
                  <a:srgbClr val="E4E4E8"/>
                </a:solidFill>
                <a:latin typeface="Malgun Gothic"/>
              </a:rPr>
              <a:t>해 드립니다.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4E4E8"/>
                </a:solidFill>
                <a:latin typeface="Malgun Gothic"/>
              </a:rPr>
              <a:t>퀄리티와 실제 문의 효과를 직접 눈으로 확인하시고, 마음에 드실 때만 계약하세요.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61488"/>
            <a:ext cx="6217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A9AA1"/>
                </a:solidFill>
                <a:latin typeface="Malgun Gothic"/>
              </a:rPr>
              <a:t>※ 퀄리티 유지를 위해 지역별 매월 선착순 5개 부동산 한정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B84B"/>
                </a:solidFill>
                <a:latin typeface="Malgun Gothic"/>
              </a:rPr>
              <a:t>★ </a:t>
            </a:r>
            <a:r>
              <a:rPr sz="1050" b="1">
                <a:solidFill>
                  <a:srgbClr val="FFFFFF"/>
                </a:solidFill>
                <a:latin typeface="Malgun Gothic"/>
              </a:rPr>
              <a:t>[전단지 독점 혜택] 똥손 소장님도 단숨에 금손으로! 1:1 촬영 컨설팅 무료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564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CFF00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6126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비싼 출장 촬영, 부르지 마세요!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따라만 하면 되는 '맞춤형 숏폼 촬영 가이드 &amp; 레퍼런스' 무상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684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CFF00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50208"/>
            <a:ext cx="6126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스마트폰으로 대충 찍어만 주시면,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고퀄리티 컷편집 + 자막/BGM + 4대 채널(쇼츠·릴스·틱톡·클립) 배포 올인원 대행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80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21215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CFF00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62272"/>
            <a:ext cx="6126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가장 부담 없는 가격으로,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CFF00"/>
                </a:solidFill>
                <a:latin typeface="Malgun Gothic"/>
              </a:rPr>
              <a:t>➔ 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당장 우리 부동산 매물 문의부터 확실하게 늘려보세요!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510235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0F0F10"/>
                </a:solidFill>
                <a:latin typeface="Malgun Gothic"/>
              </a:rPr>
              <a:t>3 CUSTOM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31536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소장님 주력 매물에 딱 맞춘 3가지 맞춤형 숏폼 플랜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76072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879592"/>
            <a:ext cx="18836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🥉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79592"/>
            <a:ext cx="1645919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원격 편집 &amp;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배포형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263640"/>
            <a:ext cx="1883663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추천: 아파트, 상가, 오피스텔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519672"/>
            <a:ext cx="1883663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CFF00"/>
                </a:solidFill>
                <a:latin typeface="Malgun Gothic"/>
              </a:rPr>
              <a:t>월 180만원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6766560"/>
            <a:ext cx="644652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CFF00"/>
                </a:solidFill>
                <a:latin typeface="Malgun Gothic"/>
              </a:rPr>
              <a:t>건당 18만원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2164" y="6766560"/>
            <a:ext cx="713232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CFF00"/>
                </a:solidFill>
                <a:latin typeface="Malgun Gothic"/>
              </a:rPr>
              <a:t>월 10건 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7040880"/>
            <a:ext cx="1883663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폰으로 대충 찍어 보내주시면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컷편집+자막+4대 채널 배포 전담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76072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5879592"/>
            <a:ext cx="18836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🥈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879592"/>
            <a:ext cx="1645919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대량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융단폭격형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6263640"/>
            <a:ext cx="1883663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추천: 원룸, 투룸, 지산 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6519672"/>
            <a:ext cx="1883663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CFF00"/>
                </a:solidFill>
                <a:latin typeface="Malgun Gothic"/>
              </a:rPr>
              <a:t>월 300만원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52928" y="6766560"/>
            <a:ext cx="644652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CFF00"/>
                </a:solidFill>
                <a:latin typeface="Malgun Gothic"/>
              </a:rPr>
              <a:t>건당 15만원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52444" y="6766560"/>
            <a:ext cx="987551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CFF00"/>
                </a:solidFill>
                <a:latin typeface="Malgun Gothic"/>
              </a:rPr>
              <a:t>월 20건 · 주 5회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7040880"/>
            <a:ext cx="1883663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"매일 업로드로 지역 매물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알고리즘 장악!" 문의량 극대화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576072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17171B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8" y="5879592"/>
            <a:ext cx="18836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🥇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879592"/>
            <a:ext cx="1645919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프리미엄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브랜딩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6263640"/>
            <a:ext cx="1883663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추천: 강남 고급빌라, 빌딩매매, 토지 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3208" y="6519672"/>
            <a:ext cx="1883663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4B"/>
                </a:solidFill>
                <a:latin typeface="Malgun Gothic"/>
              </a:rPr>
              <a:t>월 350만원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93208" y="6766560"/>
            <a:ext cx="781812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E8B84B"/>
                </a:solidFill>
                <a:latin typeface="Malgun Gothic"/>
              </a:rPr>
              <a:t>건당 87.5만원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9884" y="6766560"/>
            <a:ext cx="918971" cy="201168"/>
          </a:xfrm>
          <a:prstGeom prst="roundRect">
            <a:avLst>
              <a:gd name="adj" fmla="val 30000"/>
            </a:avLst>
          </a:prstGeom>
          <a:solidFill>
            <a:srgbClr val="121215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E8B84B"/>
                </a:solidFill>
                <a:latin typeface="Malgun Gothic"/>
              </a:rPr>
              <a:t>월 4건 · 풀패키지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3208" y="7040880"/>
            <a:ext cx="1883663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15년 차 PD 현장 출장 촬영 +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4E4E8"/>
                </a:solidFill>
                <a:latin typeface="Malgun Gothic"/>
              </a:rPr>
              <a:t>소장님 출연 전담 대본 기획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7836408"/>
            <a:ext cx="6583680" cy="868680"/>
          </a:xfrm>
          <a:prstGeom prst="roundRect">
            <a:avLst>
              <a:gd name="adj" fmla="val 10000"/>
            </a:avLst>
          </a:prstGeom>
          <a:solidFill>
            <a:srgbClr val="17171B"/>
          </a:solidFill>
          <a:ln w="15875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7927848"/>
            <a:ext cx="6583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A9AA1"/>
                </a:solidFill>
                <a:latin typeface="Malgun Gothic"/>
              </a:rPr>
              <a:t>첫 1편 무료 제작 신청 · 전화 상담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8129016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CFF00"/>
                </a:solidFill>
                <a:latin typeface="Malgun Gothic"/>
              </a:rPr>
              <a:t>📞 010-5155-5502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8439912"/>
            <a:ext cx="6583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"전단지 보고 연락드렸습니다"</a:t>
            </a:r>
            <a:r>
              <a:rPr sz="800" b="0">
                <a:solidFill>
                  <a:srgbClr val="B7B7BE"/>
                </a:solidFill>
                <a:latin typeface="Malgun Gothic"/>
              </a:rPr>
              <a:t>라고 남겨주시면 즉시 착수합니다.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wyer_bg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420624"/>
          </a:xfrm>
          <a:prstGeom prst="rect">
            <a:avLst/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0B0C10"/>
                </a:solidFill>
                <a:latin typeface="Malgun Gothic"/>
              </a:rPr>
              <a:t>🔥 [법조계 한정] 전단지 보고 계약 시 '첫 1편(기획·촬영·편집) 무료 추가 제작' 지원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0B0C10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D4AF37"/>
                </a:solidFill>
                <a:latin typeface="Malgun Gothic"/>
              </a:rPr>
              <a:t>⚖️ SUPREME LEGAL BRANDING | 15 YEARS EXECUTIVE 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65836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"자잘한 사건 10건 말고,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변호사님의 </a:t>
            </a:r>
            <a:r>
              <a:rPr sz="1900" b="1">
                <a:solidFill>
                  <a:srgbClr val="D4AF37"/>
                </a:solidFill>
                <a:latin typeface="Malgun Gothic"/>
              </a:rPr>
              <a:t>'이름값'</a:t>
            </a:r>
            <a:r>
              <a:rPr sz="1900" b="1">
                <a:solidFill>
                  <a:srgbClr val="FFFFFF"/>
                </a:solidFill>
                <a:latin typeface="Malgun Gothic"/>
              </a:rPr>
              <a:t>으로 고단가 수임을 만듭니다."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65836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4E4E8"/>
                </a:solidFill>
                <a:latin typeface="Malgun Gothic"/>
              </a:rPr>
              <a:t>클릭당 수만 원 파워링크 대신, </a:t>
            </a:r>
            <a:r>
              <a:rPr sz="1050" b="1">
                <a:solidFill>
                  <a:srgbClr val="D4AF37"/>
                </a:solidFill>
                <a:latin typeface="Malgun Gothic"/>
              </a:rPr>
              <a:t>승소 권위와 신뢰를 증명하는 1분 숏폼.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4E4E8"/>
                </a:solidFill>
                <a:latin typeface="Malgun Gothic"/>
              </a:rPr>
              <a:t>15년 차 방송 PD가 변호사님과 깊이 고민하여 대체 불가능한 프리미엄 브랜드를 완성합니다.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6583680" cy="86868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6126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Malgun Gothic"/>
              </a:rPr>
              <a:t>🎁 [계약 혜택] 시그니처 숏폼 1편 무료 추가 제작 (웰컴 보너스)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008376"/>
            <a:ext cx="6126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4E4E8"/>
                </a:solidFill>
                <a:latin typeface="Malgun Gothic"/>
              </a:rPr>
              <a:t>정식 계약 시, 변호사님의 핵심 승소 전략을 담은 </a:t>
            </a:r>
            <a:r>
              <a:rPr sz="950" b="1">
                <a:solidFill>
                  <a:srgbClr val="FFFFFF"/>
                </a:solidFill>
                <a:latin typeface="Malgun Gothic"/>
              </a:rPr>
              <a:t>'대표 영상 1편'을 무상 제작</a:t>
            </a:r>
            <a:r>
              <a:rPr sz="950" b="0">
                <a:solidFill>
                  <a:srgbClr val="E4E4E8"/>
                </a:solidFill>
                <a:latin typeface="Malgun Gothic"/>
              </a:rPr>
              <a:t>해 드립니다.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264408"/>
            <a:ext cx="6126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A9AA1"/>
                </a:solidFill>
                <a:latin typeface="Malgun Gothic"/>
              </a:rPr>
              <a:t>※ 프리미엄 1:1 파트너십 유지를 위해 지역별 매월 선착순 5개 법률사무소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75887"/>
            <a:ext cx="658368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Malgun Gothic"/>
              </a:rPr>
              <a:t>★ </a:t>
            </a:r>
            <a:r>
              <a:rPr sz="1100" b="1">
                <a:solidFill>
                  <a:srgbClr val="FFFFFF"/>
                </a:solidFill>
                <a:latin typeface="Malgun Gothic"/>
              </a:rPr>
              <a:t>15년 차 메이저 방송 PD의 '1:1 맞춤 브랜딩 &amp; 현장 연출'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01. 공장형 양산 배제</a:t>
            </a:r>
            <a:r>
              <a:rPr sz="1050" b="1">
                <a:solidFill>
                  <a:srgbClr val="D4AF37"/>
                </a:solidFill>
                <a:latin typeface="Malgun Gothic"/>
              </a:rPr>
              <a:t>  ➔  </a:t>
            </a:r>
            <a:r>
              <a:rPr sz="1050" b="0">
                <a:solidFill>
                  <a:srgbClr val="E4E4E8"/>
                </a:solidFill>
                <a:latin typeface="Malgun Gothic"/>
              </a:rPr>
              <a:t>변호사님의 승소 이력과 강점을 분석한 1:1 맞춤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34256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02. 심층 협업 프로세스</a:t>
            </a:r>
            <a:r>
              <a:rPr sz="1050" b="1">
                <a:solidFill>
                  <a:srgbClr val="D4AF37"/>
                </a:solidFill>
                <a:latin typeface="Malgun Gothic"/>
              </a:rPr>
              <a:t>  ➔  </a:t>
            </a:r>
            <a:r>
              <a:rPr sz="1050" b="0">
                <a:solidFill>
                  <a:srgbClr val="E4E4E8"/>
                </a:solidFill>
                <a:latin typeface="Malgun Gothic"/>
              </a:rPr>
              <a:t>사전 전략 회의부터 승소 스피치 코칭, 감각 연출, 4대 채널 배포 전담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26864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03. 고단가 수임 연결</a:t>
            </a:r>
            <a:r>
              <a:rPr sz="1050" b="1">
                <a:solidFill>
                  <a:srgbClr val="D4AF37"/>
                </a:solidFill>
                <a:latin typeface="Malgun Gothic"/>
              </a:rPr>
              <a:t>  ➔  </a:t>
            </a:r>
            <a:r>
              <a:rPr sz="1050" b="0">
                <a:solidFill>
                  <a:srgbClr val="E4E4E8"/>
                </a:solidFill>
                <a:latin typeface="Malgun Gothic"/>
              </a:rPr>
              <a:t>단순 조회수가 아닌, 변호사님의 가치를 아는 고액 의뢰인 유입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084064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0B0C10"/>
                </a:solidFill>
                <a:latin typeface="Malgun Gothic"/>
              </a:rPr>
              <a:t>3 SIGNATURE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13248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3대 맞춤 솔루션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69864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16171B"/>
          </a:solidFill>
          <a:ln w="12700">
            <a:solidFill>
              <a:srgbClr val="2A2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5916168"/>
            <a:ext cx="1847087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</a:rP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6245352"/>
            <a:ext cx="1847087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원격 인터뷰 &amp; 스피치형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6611112"/>
            <a:ext cx="18470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CFF00"/>
                </a:solidFill>
                <a:latin typeface="Malgun Gothic"/>
              </a:rPr>
              <a:t>월 180만원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903720"/>
            <a:ext cx="184708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A1"/>
                </a:solidFill>
                <a:latin typeface="Malgun Gothic"/>
              </a:rPr>
              <a:t>건당 18만원 | 월 10건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7196328"/>
            <a:ext cx="1847087" cy="9144"/>
          </a:xfrm>
          <a:prstGeom prst="rect">
            <a:avLst/>
          </a:prstGeom>
          <a:solidFill>
            <a:srgbClr val="2A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7287768"/>
            <a:ext cx="184708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4E4E8"/>
                </a:solidFill>
                <a:latin typeface="Malgun Gothic"/>
              </a:rPr>
              <a:t>맞춤 질문지 기반 촬영본 전달 ➔ 3초 후킹 컷편집 + 법률 핵심 자막 + 4대 채널 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769864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16171B"/>
          </a:solidFill>
          <a:ln w="12700">
            <a:solidFill>
              <a:srgbClr val="2A2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5916168"/>
            <a:ext cx="1847087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6245352"/>
            <a:ext cx="1847087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대량 융단폭격형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71216" y="6611112"/>
            <a:ext cx="18470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CFF00"/>
                </a:solidFill>
                <a:latin typeface="Malgun Gothic"/>
              </a:rPr>
              <a:t>월 300만원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1216" y="6903720"/>
            <a:ext cx="184708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A1"/>
                </a:solidFill>
                <a:latin typeface="Malgun Gothic"/>
              </a:rPr>
              <a:t>건당 15만원 | 월 20건·주 5회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71216" y="7196328"/>
            <a:ext cx="1847087" cy="9144"/>
          </a:xfrm>
          <a:prstGeom prst="rect">
            <a:avLst/>
          </a:prstGeom>
          <a:solidFill>
            <a:srgbClr val="2A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1216" y="7287768"/>
            <a:ext cx="184708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4E4E8"/>
                </a:solidFill>
                <a:latin typeface="Malgun Gothic"/>
              </a:rPr>
              <a:t>긴급 법률 조력 타깃 알고리즘 장악 ➔ 24시간 상담 문의량 극대화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5769864"/>
            <a:ext cx="2103120" cy="2148840"/>
          </a:xfrm>
          <a:prstGeom prst="roundRect">
            <a:avLst>
              <a:gd name="adj" fmla="val 5000"/>
            </a:avLst>
          </a:prstGeom>
          <a:solidFill>
            <a:srgbClr val="16171B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1496" y="5916168"/>
            <a:ext cx="1847087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</a:rPr>
              <a:t>🏛️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6245352"/>
            <a:ext cx="1847087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프리미엄 권위 브랜딩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6611112"/>
            <a:ext cx="18470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AF37"/>
                </a:solidFill>
                <a:latin typeface="Malgun Gothic"/>
              </a:rPr>
              <a:t>월 350만원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1496" y="6903720"/>
            <a:ext cx="184708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A1"/>
                </a:solidFill>
                <a:latin typeface="Malgun Gothic"/>
              </a:rPr>
              <a:t>월 4건 | 올인원 풀패키지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1496" y="7196328"/>
            <a:ext cx="1847087" cy="9144"/>
          </a:xfrm>
          <a:prstGeom prst="rect">
            <a:avLst/>
          </a:prstGeom>
          <a:solidFill>
            <a:srgbClr val="2A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496" y="7287768"/>
            <a:ext cx="184708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4E4E8"/>
                </a:solidFill>
                <a:latin typeface="Malgun Gothic"/>
              </a:rPr>
              <a:t>15년 차 방송 PD 사무실 방문 심층 기획 + 출장 촬영·연출 + 고단가 수임 전담 시나리오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8229600"/>
            <a:ext cx="6583680" cy="896112"/>
          </a:xfrm>
          <a:prstGeom prst="roundRect">
            <a:avLst>
              <a:gd name="adj" fmla="val 10000"/>
            </a:avLst>
          </a:prstGeom>
          <a:solidFill>
            <a:srgbClr val="16171B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8330183"/>
            <a:ext cx="6583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A9AA1"/>
                </a:solidFill>
                <a:latin typeface="Malgun Gothic"/>
              </a:rPr>
              <a:t>유선 상담 · 계약 혜택 문의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8540496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4AF37"/>
                </a:solidFill>
                <a:latin typeface="Malgun Gothic"/>
              </a:rPr>
              <a:t>📞 010-5155-5502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8851392"/>
            <a:ext cx="6583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"전단지 보고 연락드렸습니다"</a:t>
            </a:r>
            <a:r>
              <a:rPr sz="800" b="0">
                <a:solidFill>
                  <a:srgbClr val="B7B7BE"/>
                </a:solidFill>
                <a:latin typeface="Malgun Gothic"/>
              </a:rPr>
              <a:t>라고 남겨주시면 1:1 컨설팅을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