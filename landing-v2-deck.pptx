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_her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931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92608"/>
            <a:ext cx="3657600" cy="566928"/>
          </a:xfrm>
          <a:prstGeom prst="rect">
            <a:avLst/>
          </a:prstGeom>
          <a:noFill/>
          <a:ln w="15875">
            <a:solidFill>
              <a:srgbClr val="FF7A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429000" cy="566928"/>
          </a:xfrm>
          <a:prstGeom prst="rect">
            <a:avLst/>
          </a:prstGeom>
          <a:solidFill>
            <a:srgbClr val="11130F"/>
          </a:solidFill>
          <a:effectLst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9A63"/>
                </a:solidFill>
                <a:latin typeface="Malgun Gothic"/>
              </a:rPr>
              <a:t>자료 필요</a:t>
            </a:r>
            <a:r>
              <a:rPr sz="900" b="0">
                <a:solidFill>
                  <a:srgbClr val="FFFFFF"/>
                </a:solidFill>
                <a:latin typeface="Malgun Gothic"/>
              </a:rPr>
              <a:t>  스튜디오 조명 인터뷰 컷으로 교체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11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0515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조회수는 잊으세요.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대표님의 </a:t>
            </a:r>
            <a:r>
              <a:rPr sz="2600" b="1">
                <a:solidFill>
                  <a:srgbClr val="CCFF00"/>
                </a:solidFill>
                <a:latin typeface="Malgun Gothic"/>
              </a:rPr>
              <a:t>'상담 전화'</a:t>
            </a:r>
            <a:r>
              <a:rPr sz="2600" b="1">
                <a:solidFill>
                  <a:srgbClr val="FFFFFF"/>
                </a:solidFill>
                <a:latin typeface="Malgun Gothic"/>
              </a:rPr>
              <a:t>를 울립니다.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7A498"/>
                </a:solidFill>
                <a:latin typeface="Malgun Gothic"/>
              </a:rPr>
              <a:t>고관여 전문직·사업가 맞춤 숏폼 브랜딩 솔루션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3429000" cy="512064"/>
          </a:xfrm>
          <a:prstGeom prst="roundRect">
            <a:avLst>
              <a:gd name="adj" fmla="val 15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1130F"/>
                </a:solidFill>
                <a:latin typeface="Malgun Gothic"/>
              </a:rPr>
              <a:t>3초 만에 브랜딩 견적 확인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448056" cy="38404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11130F"/>
                </a:solidFill>
                <a:latin typeface="Malgun Gothic"/>
              </a:rPr>
              <a:t>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96012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1816"/>
                </a:solidFill>
                <a:latin typeface="Malgun Gothic"/>
              </a:rPr>
              <a:t>남들 다 하는 숏폼,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1816"/>
                </a:solidFill>
                <a:latin typeface="Malgun Gothic"/>
              </a:rPr>
              <a:t>왜 대표님 영상만 문의가 없을까요?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14600"/>
            <a:ext cx="5387187" cy="3794760"/>
          </a:xfrm>
          <a:prstGeom prst="roundRect">
            <a:avLst>
              <a:gd name="adj" fmla="val 3000"/>
            </a:avLst>
          </a:prstGeom>
          <a:solidFill>
            <a:srgbClr val="F5F4F0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55867" y="2514600"/>
            <a:ext cx="5387187" cy="3794760"/>
          </a:xfrm>
          <a:prstGeom prst="roundRect">
            <a:avLst>
              <a:gd name="adj" fmla="val 3000"/>
            </a:avLst>
          </a:prstGeom>
          <a:solidFill>
            <a:srgbClr val="11130F"/>
          </a:solidFill>
          <a:ln w="19050">
            <a:solidFill>
              <a:srgbClr val="CC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4655667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6938A"/>
                </a:solidFill>
                <a:latin typeface="Malgun Gothic"/>
              </a:rPr>
              <a:t>일반 대행사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65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5483C"/>
                </a:solidFill>
                <a:latin typeface="Malgun Gothic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74720"/>
            <a:ext cx="428990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76963"/>
                </a:solidFill>
                <a:latin typeface="Malgun Gothic"/>
              </a:rPr>
              <a:t>유행 밈 따라하기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70831"/>
            <a:ext cx="365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5483C"/>
                </a:solidFill>
                <a:latin typeface="Malgun Gothic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70831"/>
            <a:ext cx="428990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76963"/>
                </a:solidFill>
                <a:latin typeface="Malgun Gothic"/>
              </a:rPr>
              <a:t>의미 없는 10대 조회수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66944"/>
            <a:ext cx="365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5483C"/>
                </a:solidFill>
                <a:latin typeface="Malgun Gothic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266944"/>
            <a:ext cx="428990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76963"/>
                </a:solidFill>
                <a:latin typeface="Malgun Gothic"/>
              </a:rPr>
              <a:t>대표가 직접 대본 고민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1627" y="2834640"/>
            <a:ext cx="4655667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CFF00"/>
                </a:solidFill>
                <a:latin typeface="Malgun Gothic"/>
              </a:rPr>
              <a:t>나우모아애드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1627" y="3474720"/>
            <a:ext cx="365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CFF00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7387" y="3474720"/>
            <a:ext cx="428990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전문직 맞춤 권위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1627" y="4370831"/>
            <a:ext cx="365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CFF00"/>
                </a:solidFill>
                <a:latin typeface="Malgun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7387" y="4370831"/>
            <a:ext cx="428990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결제력 있는 고객 유입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1627" y="5266944"/>
            <a:ext cx="365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CFF00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7387" y="5266944"/>
            <a:ext cx="4289907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인터뷰만 하면 대본·촬영 올인원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736092" cy="38404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11130F"/>
                </a:solidFill>
                <a:latin typeface="Malgun Gothic"/>
              </a:rPr>
              <a:t>전문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96012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1816"/>
                </a:solidFill>
                <a:latin typeface="Malgun Gothic"/>
              </a:rPr>
              <a:t>업종의 '급'에 맞는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1816"/>
                </a:solidFill>
                <a:latin typeface="Malgun Gothic"/>
              </a:rPr>
              <a:t>숏폼을 만듭니다.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231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76963"/>
                </a:solidFill>
                <a:latin typeface="Malgun Gothic"/>
              </a:rPr>
              <a:t>⚖ 법무 · 세무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26664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71816"/>
                </a:solidFill>
                <a:latin typeface="Malgun Gothic"/>
              </a:rPr>
              <a:t>3초 만에 의뢰인의 사건을 찌르는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CCFF00"/>
                </a:solidFill>
                <a:latin typeface="Malgun Gothic"/>
              </a:rPr>
              <a:t>법률 솔루션</a:t>
            </a:r>
          </a:p>
        </p:txBody>
      </p:sp>
      <p:pic>
        <p:nvPicPr>
          <p:cNvPr id="6" name="Picture 5" descr="pp_phone_l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49" y="4434840"/>
            <a:ext cx="1234181" cy="2606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81347" y="24231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76963"/>
                </a:solidFill>
                <a:latin typeface="Malgun Gothic"/>
              </a:rPr>
              <a:t>🏢 부동산 · 분양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347" y="3026664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71816"/>
                </a:solidFill>
                <a:latin typeface="Malgun Gothic"/>
              </a:rPr>
              <a:t>단순 매물 나열이 아닌,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CCFF00"/>
                </a:solidFill>
                <a:latin typeface="Malgun Gothic"/>
              </a:rPr>
              <a:t>지역 가치</a:t>
            </a:r>
            <a:r>
              <a:rPr sz="1500" b="1">
                <a:solidFill>
                  <a:srgbClr val="171816"/>
                </a:solidFill>
                <a:latin typeface="Malgun Gothic"/>
              </a:rPr>
              <a:t>를 증명하는 인사이트 브랜딩</a:t>
            </a:r>
          </a:p>
        </p:txBody>
      </p:sp>
      <p:pic>
        <p:nvPicPr>
          <p:cNvPr id="9" name="Picture 8" descr="pp_phone_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170" y="4434840"/>
            <a:ext cx="1231353" cy="2606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14055" y="24231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676963"/>
                </a:solidFill>
                <a:latin typeface="Malgun Gothic"/>
              </a:rPr>
              <a:t>💼 기업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4055" y="3026664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71816"/>
                </a:solidFill>
                <a:latin typeface="Malgun Gothic"/>
              </a:rPr>
              <a:t>대표의 철학을 잠재 고객의</a:t>
            </a:r>
          </a:p>
          <a:p>
            <a:pPr>
              <a:lnSpc>
                <a:spcPct val="125000"/>
              </a:lnSpc>
            </a:pPr>
            <a:r>
              <a:rPr sz="1500" b="1">
                <a:solidFill>
                  <a:srgbClr val="CCFF00"/>
                </a:solidFill>
                <a:latin typeface="Malgun Gothic"/>
              </a:rPr>
              <a:t>팬덤</a:t>
            </a:r>
            <a:r>
              <a:rPr sz="1500" b="1">
                <a:solidFill>
                  <a:srgbClr val="171816"/>
                </a:solidFill>
                <a:latin typeface="Malgun Gothic"/>
              </a:rPr>
              <a:t>으로 바꾸는 인터뷰 필름</a:t>
            </a:r>
          </a:p>
        </p:txBody>
      </p:sp>
      <p:pic>
        <p:nvPicPr>
          <p:cNvPr id="12" name="Picture 11" descr="pp_phone_ce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063" y="4434840"/>
            <a:ext cx="1232982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928116" cy="38404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11130F"/>
                </a:solidFill>
                <a:latin typeface="Malgun Gothic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0584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1816"/>
                </a:solidFill>
                <a:latin typeface="Malgun Gothic"/>
              </a:rPr>
              <a:t>대표님의 본업에 집중할 수 있도록,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1816"/>
                </a:solidFill>
                <a:latin typeface="Malgun Gothic"/>
              </a:rPr>
              <a:t>시간 부담을 최소화합니다.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2862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CFF00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392424"/>
            <a:ext cx="21488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71816"/>
                </a:solidFill>
                <a:latin typeface="Malgun Gothic"/>
              </a:rPr>
              <a:t>인터뷰 &amp; 맞춤 스크립트 기획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098" y="26060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34130" y="2862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CFF00"/>
                </a:solidFill>
                <a:latin typeface="Malgun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5842" y="3392424"/>
            <a:ext cx="21488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71816"/>
                </a:solidFill>
                <a:latin typeface="Malgun Gothic"/>
              </a:rPr>
              <a:t>현장 집중 세션 촬영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6938A"/>
                </a:solidFill>
                <a:latin typeface="Malgun Gothic"/>
              </a:rPr>
              <a:t>기본 2시간 내외 세션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7556" y="26060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63588" y="2862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CFF00"/>
                </a:solidFill>
                <a:latin typeface="Malgun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5300" y="3392424"/>
            <a:ext cx="21488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71816"/>
                </a:solidFill>
                <a:latin typeface="Malgun Gothic"/>
              </a:rPr>
              <a:t>3초 후킹 고밀도 편집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7015" y="26060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12700">
            <a:solidFill>
              <a:srgbClr val="D8D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93047" y="2862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CFF00"/>
                </a:solidFill>
                <a:latin typeface="Malgun Gothi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4759" y="3392424"/>
            <a:ext cx="21488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71816"/>
                </a:solidFill>
                <a:latin typeface="Malgun Gothic"/>
              </a:rPr>
              <a:t>릴스·쇼츠 배포 및 상담 유입 링크 세팅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107899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6938A"/>
                </a:solidFill>
                <a:latin typeface="Malgun Gothic"/>
              </a:rPr>
              <a:t>* 촬영 시간 및 세션 회차는 계약 플랜, 제작 편수, 현장 환경 및 업종별 특성에 따라 상호 협의 후 유연하게 조정될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11130F"/>
                </a:solidFill>
                <a:latin typeface="Malgun Gothic"/>
              </a:rPr>
              <a:t>이번 달 마감 임박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73152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한 달 딱 2시간,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말만 하시면 브랜딩은 끝납니다.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68580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A7A498"/>
                </a:solidFill>
                <a:latin typeface="Malgun Gothic"/>
              </a:rPr>
              <a:t>퀄리티 유지를 위해 이번 달 신규 온보딩은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CFF00"/>
                </a:solidFill>
                <a:latin typeface="Malgun Gothic"/>
              </a:rPr>
              <a:t>선착순 3개 업체</a:t>
            </a:r>
            <a:r>
              <a:rPr sz="1450" b="1">
                <a:solidFill>
                  <a:srgbClr val="A7A498"/>
                </a:solidFill>
                <a:latin typeface="Malgun Gothic"/>
              </a:rPr>
              <a:t>만 진행합니다.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20440"/>
            <a:ext cx="4206240" cy="475488"/>
          </a:xfrm>
          <a:prstGeom prst="rect">
            <a:avLst/>
          </a:prstGeom>
          <a:noFill/>
          <a:ln w="12700">
            <a:solidFill>
              <a:srgbClr val="2B2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0" bIns="0"/>
          <a:lstStyle/>
          <a:p>
            <a:pPr algn="ctr"/>
            <a:r>
              <a:rPr sz="1150">
                <a:solidFill>
                  <a:srgbClr val="79766A"/>
                </a:solidFill>
                <a:latin typeface="Malgun Gothic"/>
              </a:rPr>
              <a:t>이름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23944"/>
            <a:ext cx="4206240" cy="475488"/>
          </a:xfrm>
          <a:prstGeom prst="rect">
            <a:avLst/>
          </a:prstGeom>
          <a:noFill/>
          <a:ln w="12700">
            <a:solidFill>
              <a:srgbClr val="2B2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0" bIns="0"/>
          <a:lstStyle/>
          <a:p>
            <a:pPr algn="ctr"/>
            <a:r>
              <a:rPr sz="1150">
                <a:solidFill>
                  <a:srgbClr val="79766A"/>
                </a:solidFill>
                <a:latin typeface="Malgun Gothic"/>
              </a:rPr>
              <a:t>연락처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27448"/>
            <a:ext cx="4206240" cy="475488"/>
          </a:xfrm>
          <a:prstGeom prst="rect">
            <a:avLst/>
          </a:prstGeom>
          <a:noFill/>
          <a:ln w="12700">
            <a:solidFill>
              <a:srgbClr val="2B2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0" tIns="0" bIns="0"/>
          <a:lstStyle/>
          <a:p>
            <a:pPr algn="ctr"/>
            <a:r>
              <a:rPr sz="1150">
                <a:solidFill>
                  <a:srgbClr val="79766A"/>
                </a:solidFill>
                <a:latin typeface="Malgun Gothic"/>
              </a:rPr>
              <a:t>업종을 선택해주세요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76672"/>
            <a:ext cx="4206240" cy="512064"/>
          </a:xfrm>
          <a:prstGeom prst="rect">
            <a:avLst/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1130F"/>
                </a:solidFill>
                <a:latin typeface="Malgun Gothic"/>
              </a:rPr>
              <a:t>무료 숏폼 기획안 신청하기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16752"/>
            <a:ext cx="42062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D8A7D"/>
                </a:solidFill>
                <a:latin typeface="Malgun Gothic"/>
              </a:rPr>
              <a:t>신청 후 담당 브랜드 컨설턴트가 직접 연락드립니다.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448056" cy="384048"/>
          </a:xfrm>
          <a:prstGeom prst="roundRect">
            <a:avLst>
              <a:gd name="adj" fmla="val 50000"/>
            </a:avLst>
          </a:prstGeom>
          <a:solidFill>
            <a:srgbClr val="CC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11130F"/>
                </a:solidFill>
                <a:latin typeface="Malgun Gothic"/>
              </a:rP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1816"/>
                </a:solidFill>
                <a:latin typeface="Malgun Gothic"/>
              </a:rPr>
              <a:t>실제 웹 목업 스크린샷 (참고용)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6938A"/>
                </a:solidFill>
                <a:latin typeface="Malgun Gothic"/>
              </a:rPr>
              <a:t>PC</a:t>
            </a:r>
          </a:p>
        </p:txBody>
      </p:sp>
      <p:pic>
        <p:nvPicPr>
          <p:cNvPr id="5" name="Picture 4" descr="landing-v2-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591893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325880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6938A"/>
                </a:solidFill>
                <a:latin typeface="Malgun Gothic"/>
              </a:rPr>
              <a:t>Mobile</a:t>
            </a:r>
          </a:p>
        </p:txBody>
      </p:sp>
      <p:pic>
        <p:nvPicPr>
          <p:cNvPr id="7" name="Picture 6" descr="landing-v2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384315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